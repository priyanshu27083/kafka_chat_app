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2D1B6B"/>
          </a:solidFill>
          <a:ln w="12700">
            <a:solidFill>
              <a:srgbClr val="2D1B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3474720"/>
            <a:ext cx="2286000" cy="2286000"/>
          </a:xfrm>
          <a:prstGeom prst="ellipse">
            <a:avLst/>
          </a:prstGeom>
          <a:solidFill>
            <a:srgbClr val="2D1B6B"/>
          </a:solidFill>
          <a:ln w="12700">
            <a:solidFill>
              <a:srgbClr val="2D1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48640"/>
            <a:ext cx="8503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BIG DATA ANALYTICS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822960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Distributed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Chat Application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288036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4B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Using Apache Kafka · PyQt5 · MongoDB · ML Sentiment · Gemini AI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3383280"/>
            <a:ext cx="4572000" cy="36576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9" name="Text 7"/>
          <p:cNvSpPr/>
          <p:nvPr/>
        </p:nvSpPr>
        <p:spPr>
          <a:xfrm>
            <a:off x="365760" y="3520440"/>
            <a:ext cx="82296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Priyanshu Nerella (160123737159)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Guide: Dr. N. Sudhakar Yadav, Associate Professor – Dept. of IT, CBIT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E.(IT) VI-Sem  |  2025-26  |  Submission: 03-05-2026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035"/>
          </a:solidFill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5" name="Shape 3"/>
          <p:cNvSpPr/>
          <p:nvPr/>
        </p:nvSpPr>
        <p:spPr>
          <a:xfrm>
            <a:off x="274320" y="685800"/>
            <a:ext cx="4206240" cy="804672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795528"/>
            <a:ext cx="594360" cy="594360"/>
          </a:xfrm>
          <a:prstGeom prst="rect">
            <a:avLst/>
          </a:prstGeom>
          <a:solidFill>
            <a:srgbClr val="7C3AED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78992" y="850392"/>
            <a:ext cx="32918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 &amp; Motivation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4320" y="1691640"/>
            <a:ext cx="4206240" cy="804672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1801368"/>
            <a:ext cx="594360" cy="594360"/>
          </a:xfrm>
          <a:prstGeom prst="rect">
            <a:avLst/>
          </a:prstGeom>
          <a:solidFill>
            <a:srgbClr val="7C3AED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78992" y="1856232"/>
            <a:ext cx="32918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Software &amp; Technologies Used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" y="2697480"/>
            <a:ext cx="4206240" cy="804672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" y="2807208"/>
            <a:ext cx="594360" cy="594360"/>
          </a:xfrm>
          <a:prstGeom prst="rect">
            <a:avLst/>
          </a:prstGeom>
          <a:solidFill>
            <a:srgbClr val="7C3AED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78992" y="2862072"/>
            <a:ext cx="32918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74320" y="3703320"/>
            <a:ext cx="4206240" cy="804672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048" y="3813048"/>
            <a:ext cx="594360" cy="594360"/>
          </a:xfrm>
          <a:prstGeom prst="rect">
            <a:avLst/>
          </a:prstGeom>
          <a:solidFill>
            <a:srgbClr val="7C3AED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78992" y="3867912"/>
            <a:ext cx="32918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 Diagram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754880" y="685800"/>
            <a:ext cx="4206240" cy="804672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64608" y="795528"/>
            <a:ext cx="594360" cy="594360"/>
          </a:xfrm>
          <a:prstGeom prst="rect">
            <a:avLst/>
          </a:prstGeom>
          <a:solidFill>
            <a:srgbClr val="7C3AED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559552" y="850392"/>
            <a:ext cx="32918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Implementation Details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754880" y="1691640"/>
            <a:ext cx="4206240" cy="804672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64608" y="1801368"/>
            <a:ext cx="594360" cy="594360"/>
          </a:xfrm>
          <a:prstGeom prst="rect">
            <a:avLst/>
          </a:prstGeom>
          <a:solidFill>
            <a:srgbClr val="7C3AED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559552" y="1856232"/>
            <a:ext cx="32918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&amp; Output Screenshots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754880" y="2697480"/>
            <a:ext cx="4206240" cy="804672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64608" y="2807208"/>
            <a:ext cx="594360" cy="594360"/>
          </a:xfrm>
          <a:prstGeom prst="rect">
            <a:avLst/>
          </a:prstGeom>
          <a:solidFill>
            <a:srgbClr val="7C3AED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559552" y="2862072"/>
            <a:ext cx="32918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Performance Summary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754880" y="3703320"/>
            <a:ext cx="4206240" cy="804672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64608" y="3813048"/>
            <a:ext cx="594360" cy="594360"/>
          </a:xfrm>
          <a:prstGeom prst="rect">
            <a:avLst/>
          </a:prstGeom>
          <a:solidFill>
            <a:srgbClr val="7C3AED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559552" y="3867912"/>
            <a:ext cx="32918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Discussion &amp; Conclusion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035"/>
          </a:solidFill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 &amp; Abstract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5" name="Text 3"/>
          <p:cNvSpPr/>
          <p:nvPr/>
        </p:nvSpPr>
        <p:spPr>
          <a:xfrm>
            <a:off x="274320" y="594360"/>
            <a:ext cx="8595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85953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real-time distributed chat application built on Apache Kafka as the messaging backbone, PyQt5 for the desktop GUI, and MongoDB for persistent storage. The system supports multiple chat rooms, ML-based sentiment analysis, and AI-powered chat summarization via the Gemini API.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8595360" cy="822960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828800"/>
            <a:ext cx="91440" cy="82296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9" name="Text 7"/>
          <p:cNvSpPr/>
          <p:nvPr/>
        </p:nvSpPr>
        <p:spPr>
          <a:xfrm>
            <a:off x="502920" y="1938528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Problem: 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212848"/>
            <a:ext cx="8138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Traditional socket-based chat apps lack durability &amp; scalability required for production. This project explores Kafka's streaming capabilities in a desktop chat environment.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74320" y="2788920"/>
            <a:ext cx="8595360" cy="822960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788920"/>
            <a:ext cx="91440" cy="82296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3" name="Text 11"/>
          <p:cNvSpPr/>
          <p:nvPr/>
        </p:nvSpPr>
        <p:spPr>
          <a:xfrm>
            <a:off x="502920" y="2898648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Goal: 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172968"/>
            <a:ext cx="8138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a multi-room chat app where messages are reliably produced/consumed via Kafka, persisted in MongoDB, and displayed in a responsive GUI with analytics.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74320" y="3749040"/>
            <a:ext cx="8595360" cy="822960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49040"/>
            <a:ext cx="91440" cy="82296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7" name="Text 15"/>
          <p:cNvSpPr/>
          <p:nvPr/>
        </p:nvSpPr>
        <p:spPr>
          <a:xfrm>
            <a:off x="502920" y="3858768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Impact: 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4133088"/>
            <a:ext cx="8138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Demonstrates event-driven distributed messaging powering interactive desktop apps with sub-second latency, ML analytics, and LLM summarization.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035"/>
          </a:solidFill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Objectives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5" name="Shape 3"/>
          <p:cNvSpPr/>
          <p:nvPr/>
        </p:nvSpPr>
        <p:spPr>
          <a:xfrm>
            <a:off x="274320" y="621792"/>
            <a:ext cx="8595360" cy="566928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749808"/>
            <a:ext cx="310896" cy="310896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7" name="Text 5"/>
          <p:cNvSpPr/>
          <p:nvPr/>
        </p:nvSpPr>
        <p:spPr>
          <a:xfrm>
            <a:off x="347472" y="749808"/>
            <a:ext cx="310896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749808"/>
            <a:ext cx="79552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 a Kafka-based publish-subscribe chat system supporting multiple rooms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74320" y="1307592"/>
            <a:ext cx="8595360" cy="566928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1435608"/>
            <a:ext cx="310896" cy="310896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11" name="Text 9"/>
          <p:cNvSpPr/>
          <p:nvPr/>
        </p:nvSpPr>
        <p:spPr>
          <a:xfrm>
            <a:off x="347472" y="1435608"/>
            <a:ext cx="310896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1435608"/>
            <a:ext cx="79552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a responsive PyQt5 desktop GUI with threaded Kafka I/O to prevent UI blocking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74320" y="1993392"/>
            <a:ext cx="8595360" cy="566928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" y="2121408"/>
            <a:ext cx="310896" cy="310896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15" name="Text 13"/>
          <p:cNvSpPr/>
          <p:nvPr/>
        </p:nvSpPr>
        <p:spPr>
          <a:xfrm>
            <a:off x="347472" y="2121408"/>
            <a:ext cx="310896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2121408"/>
            <a:ext cx="79552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Persist all chat messages to MongoDB with room-based retrieval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274320" y="2679192"/>
            <a:ext cx="8595360" cy="566928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" y="2807208"/>
            <a:ext cx="310896" cy="310896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19" name="Text 17"/>
          <p:cNvSpPr/>
          <p:nvPr/>
        </p:nvSpPr>
        <p:spPr>
          <a:xfrm>
            <a:off x="347472" y="2807208"/>
            <a:ext cx="310896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2807208"/>
            <a:ext cx="79552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 ML-based sentiment classification using a Naive Bayes model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274320" y="3364992"/>
            <a:ext cx="8595360" cy="566928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7472" y="3493008"/>
            <a:ext cx="310896" cy="310896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23" name="Text 21"/>
          <p:cNvSpPr/>
          <p:nvPr/>
        </p:nvSpPr>
        <p:spPr>
          <a:xfrm>
            <a:off x="347472" y="3493008"/>
            <a:ext cx="310896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3493008"/>
            <a:ext cx="79552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Integrate the Gemini API to generate abstractive chat summaries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274320" y="4050792"/>
            <a:ext cx="8595360" cy="566928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7472" y="4178808"/>
            <a:ext cx="310896" cy="310896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27" name="Text 25"/>
          <p:cNvSpPr/>
          <p:nvPr/>
        </p:nvSpPr>
        <p:spPr>
          <a:xfrm>
            <a:off x="347472" y="4178808"/>
            <a:ext cx="310896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4178808"/>
            <a:ext cx="79552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 a real-time analytics panel showing user activity and room mood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035"/>
          </a:solidFill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Software &amp; Technologies Used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5" name="Shape 3"/>
          <p:cNvSpPr/>
          <p:nvPr/>
        </p:nvSpPr>
        <p:spPr>
          <a:xfrm>
            <a:off x="164592" y="621792"/>
            <a:ext cx="2834640" cy="1920240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4592" y="621792"/>
            <a:ext cx="2834640" cy="411480"/>
          </a:xfrm>
          <a:prstGeom prst="rect">
            <a:avLst/>
          </a:prstGeom>
          <a:solidFill>
            <a:srgbClr val="1A1035"/>
          </a:solidFill>
        </p:spPr>
      </p:sp>
      <p:sp>
        <p:nvSpPr>
          <p:cNvPr id="7" name="Text 5"/>
          <p:cNvSpPr/>
          <p:nvPr/>
        </p:nvSpPr>
        <p:spPr>
          <a:xfrm>
            <a:off x="256032" y="667512"/>
            <a:ext cx="2651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 Kafka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6032" y="1078992"/>
            <a:ext cx="26517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 kafka-python 2.3.1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56032" y="1335024"/>
            <a:ext cx="265176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Distributed messaging backbone — pub/sub topics per chat room, durable log storage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621792"/>
            <a:ext cx="2834640" cy="1920240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621792"/>
            <a:ext cx="2834640" cy="411480"/>
          </a:xfrm>
          <a:prstGeom prst="rect">
            <a:avLst/>
          </a:prstGeom>
          <a:solidFill>
            <a:srgbClr val="2D1B6B"/>
          </a:solidFill>
        </p:spPr>
      </p:sp>
      <p:sp>
        <p:nvSpPr>
          <p:cNvPr id="12" name="Text 10"/>
          <p:cNvSpPr/>
          <p:nvPr/>
        </p:nvSpPr>
        <p:spPr>
          <a:xfrm>
            <a:off x="3246120" y="667512"/>
            <a:ext cx="2651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PyQt5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46120" y="1078992"/>
            <a:ext cx="26517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 5.15.11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46120" y="1335024"/>
            <a:ext cx="265176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Cross-platform desktop GUI with QThread for non-blocking Kafka I/O &amp; signal-slot communication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44768" y="621792"/>
            <a:ext cx="2834640" cy="1920240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44768" y="621792"/>
            <a:ext cx="2834640" cy="41148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17" name="Text 15"/>
          <p:cNvSpPr/>
          <p:nvPr/>
        </p:nvSpPr>
        <p:spPr>
          <a:xfrm>
            <a:off x="6236208" y="667512"/>
            <a:ext cx="2651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MongoDB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36208" y="1078992"/>
            <a:ext cx="26517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 PyMongo (latest)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36208" y="1335024"/>
            <a:ext cx="265176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Document-oriented NoSQL persistence for chat messages with room-based retrieval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64592" y="2724912"/>
            <a:ext cx="2834640" cy="1920240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64592" y="2724912"/>
            <a:ext cx="2834640" cy="41148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22" name="Text 20"/>
          <p:cNvSpPr/>
          <p:nvPr/>
        </p:nvSpPr>
        <p:spPr>
          <a:xfrm>
            <a:off x="256032" y="2770632"/>
            <a:ext cx="2651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56032" y="3182112"/>
            <a:ext cx="26517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 Latest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56032" y="3438144"/>
            <a:ext cx="265176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Multinomial Naive Bayes classifier + CountVectorizer for real-time sentiment analysis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154680" y="2724912"/>
            <a:ext cx="2834640" cy="1920240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54680" y="2724912"/>
            <a:ext cx="2834640" cy="411480"/>
          </a:xfrm>
          <a:prstGeom prst="rect">
            <a:avLst/>
          </a:prstGeom>
          <a:solidFill>
            <a:srgbClr val="6D2E46"/>
          </a:solidFill>
        </p:spPr>
      </p:sp>
      <p:sp>
        <p:nvSpPr>
          <p:cNvPr id="27" name="Text 25"/>
          <p:cNvSpPr/>
          <p:nvPr/>
        </p:nvSpPr>
        <p:spPr>
          <a:xfrm>
            <a:off x="3246120" y="2770632"/>
            <a:ext cx="2651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Google Gemini API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46120" y="3182112"/>
            <a:ext cx="26517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 google-generativeai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246120" y="3438144"/>
            <a:ext cx="265176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LLM-powered abstractive summarization of chat room conversation history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44768" y="2724912"/>
            <a:ext cx="2834640" cy="1920240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44768" y="2724912"/>
            <a:ext cx="2834640" cy="411480"/>
          </a:xfrm>
          <a:prstGeom prst="rect">
            <a:avLst/>
          </a:prstGeom>
          <a:solidFill>
            <a:srgbClr val="36454F"/>
          </a:solidFill>
        </p:spPr>
      </p:sp>
      <p:sp>
        <p:nvSpPr>
          <p:cNvPr id="32" name="Text 30"/>
          <p:cNvSpPr/>
          <p:nvPr/>
        </p:nvSpPr>
        <p:spPr>
          <a:xfrm>
            <a:off x="6236208" y="2770632"/>
            <a:ext cx="2651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+ python-dotenv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36208" y="3182112"/>
            <a:ext cx="26517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 3.x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36208" y="3438144"/>
            <a:ext cx="265176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language; dotenv for secure API key management via environment variables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035"/>
          </a:solidFill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 – Layered Design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5" name="Shape 3"/>
          <p:cNvSpPr/>
          <p:nvPr/>
        </p:nvSpPr>
        <p:spPr>
          <a:xfrm>
            <a:off x="274320" y="594360"/>
            <a:ext cx="1554480" cy="77724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6" name="Text 4"/>
          <p:cNvSpPr/>
          <p:nvPr/>
        </p:nvSpPr>
        <p:spPr>
          <a:xfrm>
            <a:off x="274320" y="640080"/>
            <a:ext cx="1554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Presentation Layer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38528" y="594360"/>
            <a:ext cx="6903720" cy="777240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03120" y="722376"/>
            <a:ext cx="6583680" cy="521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PyQt5 main window (gui.py) · Login dialog (login.py) · Chat bubbles · Room selector · Analytics panel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51560" y="1371600"/>
            <a:ext cx="0" cy="228600"/>
          </a:xfrm>
          <a:prstGeom prst="line">
            <a:avLst/>
          </a:prstGeom>
          <a:noFill/>
          <a:ln w="19050">
            <a:solidFill>
              <a:srgbClr val="7C3AED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74320" y="1600200"/>
            <a:ext cx="1554480" cy="77724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11" name="Text 9"/>
          <p:cNvSpPr/>
          <p:nvPr/>
        </p:nvSpPr>
        <p:spPr>
          <a:xfrm>
            <a:off x="274320" y="1645920"/>
            <a:ext cx="1554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Messaging Layer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938528" y="1600200"/>
            <a:ext cx="6903720" cy="777240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103120" y="1728216"/>
            <a:ext cx="6583680" cy="521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Kafka Producer (producer.py) · Kafka Consumer (consumer.py) · KafkaWorker QThread (worker.py) · Topic hot-swap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051560" y="2377440"/>
            <a:ext cx="0" cy="228600"/>
          </a:xfrm>
          <a:prstGeom prst="line">
            <a:avLst/>
          </a:prstGeom>
          <a:noFill/>
          <a:ln w="19050">
            <a:solidFill>
              <a:srgbClr val="7C3AED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274320" y="2606040"/>
            <a:ext cx="1554480" cy="77724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16" name="Text 14"/>
          <p:cNvSpPr/>
          <p:nvPr/>
        </p:nvSpPr>
        <p:spPr>
          <a:xfrm>
            <a:off x="274320" y="2651760"/>
            <a:ext cx="1554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Persistence Layer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938528" y="2606040"/>
            <a:ext cx="6903720" cy="777240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103120" y="2734056"/>
            <a:ext cx="6583680" cy="521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MongoDB via PyMongo (db.py) · kafka_chat database · messages collection · save_message() &amp; load_messages()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051560" y="3383280"/>
            <a:ext cx="0" cy="228600"/>
          </a:xfrm>
          <a:prstGeom prst="line">
            <a:avLst/>
          </a:prstGeom>
          <a:noFill/>
          <a:ln w="19050">
            <a:solidFill>
              <a:srgbClr val="7C3AED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274320" y="3611880"/>
            <a:ext cx="1554480" cy="777240"/>
          </a:xfrm>
          <a:prstGeom prst="rect">
            <a:avLst/>
          </a:prstGeom>
          <a:solidFill>
            <a:srgbClr val="6D2E46"/>
          </a:solidFill>
        </p:spPr>
      </p:sp>
      <p:sp>
        <p:nvSpPr>
          <p:cNvPr id="21" name="Text 19"/>
          <p:cNvSpPr/>
          <p:nvPr/>
        </p:nvSpPr>
        <p:spPr>
          <a:xfrm>
            <a:off x="274320" y="3657600"/>
            <a:ext cx="1554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Analytics Layer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938528" y="3611880"/>
            <a:ext cx="6903720" cy="777240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103120" y="3739896"/>
            <a:ext cx="6583680" cy="521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Sentiment Classifier (ml_sentiment.py) · Analytics engine (analytics.py) · Gemini Summarizer (summarizer.py)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74320" y="4617720"/>
            <a:ext cx="8686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layer communicates through well-defined interfaces, ensuring separation of concerns and modularity.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035"/>
          </a:solidFill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 Diagram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7C3AED"/>
          </a:solidFill>
        </p:spPr>
      </p:sp>
      <p:pic>
        <p:nvPicPr>
          <p:cNvPr id="7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16220" y="497205"/>
            <a:ext cx="3827780" cy="448056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 Box 7"/>
          <p:cNvSpPr txBox="1"/>
          <p:nvPr/>
        </p:nvSpPr>
        <p:spPr>
          <a:xfrm>
            <a:off x="274320" y="593725"/>
            <a:ext cx="4840605" cy="369252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1350" b="1">
                <a:latin typeface="Arial" panose="020B0604020202020204" pitchFamily="34" charset="0"/>
                <a:ea typeface="Microsoft YaHei" panose="020B0503020204020204" charset="-122"/>
              </a:rPr>
              <a:t>Presentation Layer</a:t>
            </a:r>
            <a:r>
              <a:rPr lang="en-US" altLang="en-US" sz="1350">
                <a:latin typeface="Arial" panose="020B0604020202020204" pitchFamily="34" charset="0"/>
                <a:ea typeface="Microsoft YaHei" panose="020B0503020204020204" charset="-122"/>
              </a:rPr>
              <a:t>: UI built with login.py and gui.py for chat, topic selection, and analytics display.</a:t>
            </a:r>
            <a:endParaRPr lang="en-US" altLang="en-US" sz="1350">
              <a:latin typeface="Arial" panose="020B0604020202020204" pitchFamily="34" charset="0"/>
              <a:ea typeface="Microsoft YaHei" panose="020B0503020204020204" charset="-122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1350" b="1">
                <a:latin typeface="Arial" panose="020B0604020202020204" pitchFamily="34" charset="0"/>
                <a:ea typeface="Microsoft YaHei" panose="020B0503020204020204" charset="-122"/>
              </a:rPr>
              <a:t>Threading Layer</a:t>
            </a:r>
            <a:r>
              <a:rPr lang="en-US" altLang="en-US" sz="1350">
                <a:latin typeface="Arial" panose="020B0604020202020204" pitchFamily="34" charset="0"/>
                <a:ea typeface="Microsoft YaHei" panose="020B0503020204020204" charset="-122"/>
              </a:rPr>
              <a:t>: worker.py handles background Kafka operations to keep the UI responsive.</a:t>
            </a:r>
            <a:endParaRPr lang="en-US" altLang="en-US" sz="1350">
              <a:latin typeface="Arial" panose="020B0604020202020204" pitchFamily="34" charset="0"/>
              <a:ea typeface="Microsoft YaHei" panose="020B0503020204020204" charset="-122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1350" b="1">
                <a:latin typeface="Arial" panose="020B0604020202020204" pitchFamily="34" charset="0"/>
                <a:ea typeface="Microsoft YaHei" panose="020B0503020204020204" charset="-122"/>
              </a:rPr>
              <a:t>Messaging Layer (Kafka)</a:t>
            </a:r>
            <a:r>
              <a:rPr lang="en-US" altLang="en-US" sz="1350">
                <a:latin typeface="Arial" panose="020B0604020202020204" pitchFamily="34" charset="0"/>
                <a:ea typeface="Microsoft YaHei" panose="020B0503020204020204" charset="-122"/>
              </a:rPr>
              <a:t>: producer.py sends messages, Kafka broker manages topics, and consumer.py receives messages.</a:t>
            </a:r>
            <a:endParaRPr lang="en-US" altLang="en-US" sz="1350">
              <a:latin typeface="Arial" panose="020B0604020202020204" pitchFamily="34" charset="0"/>
              <a:ea typeface="Microsoft YaHei" panose="020B0503020204020204" charset="-122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1350" b="1">
                <a:latin typeface="Arial" panose="020B0604020202020204" pitchFamily="34" charset="0"/>
                <a:ea typeface="Microsoft YaHei" panose="020B0503020204020204" charset="-122"/>
              </a:rPr>
              <a:t>Persistence &amp; Analytics</a:t>
            </a:r>
            <a:r>
              <a:rPr lang="en-US" altLang="en-US" sz="1350">
                <a:latin typeface="Arial" panose="020B0604020202020204" pitchFamily="34" charset="0"/>
                <a:ea typeface="Microsoft YaHei" panose="020B0503020204020204" charset="-122"/>
              </a:rPr>
              <a:t>: MongoDB (db.py) stores chats, while analytics.py and summarizer.py generate insights.</a:t>
            </a:r>
            <a:endParaRPr lang="en-US" altLang="en-US" sz="1350">
              <a:latin typeface="Arial" panose="020B0604020202020204" pitchFamily="34" charset="0"/>
              <a:ea typeface="Microsoft YaHei" panose="020B0503020204020204" charset="-122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1350" b="1">
                <a:latin typeface="Arial" panose="020B0604020202020204" pitchFamily="34" charset="0"/>
                <a:ea typeface="Microsoft YaHei" panose="020B0503020204020204" charset="-122"/>
              </a:rPr>
              <a:t>ML Layer</a:t>
            </a:r>
            <a:r>
              <a:rPr lang="en-US" altLang="en-US" sz="1350">
                <a:latin typeface="Arial" panose="020B0604020202020204" pitchFamily="34" charset="0"/>
                <a:ea typeface="Microsoft YaHei" panose="020B0503020204020204" charset="-122"/>
              </a:rPr>
              <a:t>: ml_sentiment.py performs sentiment analysis to detect user mood.</a:t>
            </a:r>
            <a:endParaRPr lang="en-US" altLang="en-US" sz="1350">
              <a:latin typeface="Arial" panose="020B0604020202020204" pitchFamily="34" charset="0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035"/>
          </a:solidFill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Message Flow &amp; Threading Model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5" name="Text 3"/>
          <p:cNvSpPr/>
          <p:nvPr/>
        </p:nvSpPr>
        <p:spPr>
          <a:xfrm>
            <a:off x="274320" y="566928"/>
            <a:ext cx="85953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Message Flow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941832"/>
            <a:ext cx="320040" cy="320040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7" name="Text 5"/>
          <p:cNvSpPr/>
          <p:nvPr/>
        </p:nvSpPr>
        <p:spPr>
          <a:xfrm>
            <a:off x="274320" y="941832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3232" y="950976"/>
            <a:ext cx="8138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types a message in the PyQt5 GUI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" y="1261872"/>
            <a:ext cx="0" cy="155448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417320"/>
            <a:ext cx="320040" cy="320040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11" name="Text 9"/>
          <p:cNvSpPr/>
          <p:nvPr/>
        </p:nvSpPr>
        <p:spPr>
          <a:xfrm>
            <a:off x="274320" y="141732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232" y="1426464"/>
            <a:ext cx="8138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 calls ChatProducer.send_message() — serializes payload as JSON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4340" y="1737360"/>
            <a:ext cx="0" cy="155448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892808"/>
            <a:ext cx="320040" cy="320040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15" name="Text 13"/>
          <p:cNvSpPr/>
          <p:nvPr/>
        </p:nvSpPr>
        <p:spPr>
          <a:xfrm>
            <a:off x="274320" y="1892808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3232" y="1901952"/>
            <a:ext cx="8138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Message published to the Kafka topic for the selected chat room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4340" y="2212848"/>
            <a:ext cx="0" cy="155448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368296"/>
            <a:ext cx="320040" cy="320040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19" name="Text 17"/>
          <p:cNvSpPr/>
          <p:nvPr/>
        </p:nvSpPr>
        <p:spPr>
          <a:xfrm>
            <a:off x="274320" y="2368296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3232" y="2377440"/>
            <a:ext cx="8138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Message persisted to MongoDB (db.save_message())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4340" y="2688336"/>
            <a:ext cx="0" cy="155448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843784"/>
            <a:ext cx="320040" cy="320040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23" name="Text 21"/>
          <p:cNvSpPr/>
          <p:nvPr/>
        </p:nvSpPr>
        <p:spPr>
          <a:xfrm>
            <a:off x="274320" y="2843784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3232" y="2852928"/>
            <a:ext cx="8138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KafkaWorker (QThread) polls consumer in background — receives message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34340" y="3163824"/>
            <a:ext cx="0" cy="155448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319272"/>
            <a:ext cx="320040" cy="320040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27" name="Text 25"/>
          <p:cNvSpPr/>
          <p:nvPr/>
        </p:nvSpPr>
        <p:spPr>
          <a:xfrm>
            <a:off x="274320" y="3319272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3232" y="3328416"/>
            <a:ext cx="8138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Worker emits message_received Qt signal → GUI slot renders chat bubble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74320" y="3886200"/>
            <a:ext cx="8595360" cy="868680"/>
          </a:xfrm>
          <a:prstGeom prst="rect">
            <a:avLst/>
          </a:prstGeom>
          <a:solidFill>
            <a:srgbClr val="FDF4FF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11480" y="397764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Threading Model: 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148840" y="3977640"/>
            <a:ext cx="6583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Kafka I/O is isolated in KafkaWorker (QThread subclass). Signals use queued connections so Kafka polling never blocks the UI event loop.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035"/>
          </a:solidFill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5" name="Shape 3"/>
          <p:cNvSpPr/>
          <p:nvPr/>
        </p:nvSpPr>
        <p:spPr>
          <a:xfrm>
            <a:off x="228600" y="594360"/>
            <a:ext cx="4297680" cy="749808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594360"/>
            <a:ext cx="1417320" cy="749808"/>
          </a:xfrm>
          <a:prstGeom prst="rect">
            <a:avLst/>
          </a:prstGeom>
          <a:solidFill>
            <a:srgbClr val="2D1B6B"/>
          </a:solidFill>
        </p:spPr>
      </p:sp>
      <p:sp>
        <p:nvSpPr>
          <p:cNvPr id="7" name="Text 5"/>
          <p:cNvSpPr/>
          <p:nvPr/>
        </p:nvSpPr>
        <p:spPr>
          <a:xfrm>
            <a:off x="274320" y="731520"/>
            <a:ext cx="13258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config.py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37360" y="685800"/>
            <a:ext cx="27432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Central constants: Kafka servers, topic names, UI colour palette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1453896"/>
            <a:ext cx="4297680" cy="749808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453896"/>
            <a:ext cx="1417320" cy="749808"/>
          </a:xfrm>
          <a:prstGeom prst="rect">
            <a:avLst/>
          </a:prstGeom>
          <a:solidFill>
            <a:srgbClr val="2D1B6B"/>
          </a:solidFill>
        </p:spPr>
      </p:sp>
      <p:sp>
        <p:nvSpPr>
          <p:cNvPr id="11" name="Text 9"/>
          <p:cNvSpPr/>
          <p:nvPr/>
        </p:nvSpPr>
        <p:spPr>
          <a:xfrm>
            <a:off x="274320" y="1591056"/>
            <a:ext cx="13258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producer.py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37360" y="1545336"/>
            <a:ext cx="27432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Wraps KafkaProducer; serialises &amp; publishes messages; invokes MongoDB save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2313432"/>
            <a:ext cx="4297680" cy="749808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2313432"/>
            <a:ext cx="1417320" cy="749808"/>
          </a:xfrm>
          <a:prstGeom prst="rect">
            <a:avLst/>
          </a:prstGeom>
          <a:solidFill>
            <a:srgbClr val="2D1B6B"/>
          </a:solidFill>
        </p:spPr>
      </p:sp>
      <p:sp>
        <p:nvSpPr>
          <p:cNvPr id="15" name="Text 13"/>
          <p:cNvSpPr/>
          <p:nvPr/>
        </p:nvSpPr>
        <p:spPr>
          <a:xfrm>
            <a:off x="274320" y="2450592"/>
            <a:ext cx="13258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consumer.py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37360" y="2404872"/>
            <a:ext cx="27432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Wraps KafkaConsumer; polls messages; supports topic hot-swap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3172968"/>
            <a:ext cx="4297680" cy="749808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3172968"/>
            <a:ext cx="1417320" cy="749808"/>
          </a:xfrm>
          <a:prstGeom prst="rect">
            <a:avLst/>
          </a:prstGeom>
          <a:solidFill>
            <a:srgbClr val="2D1B6B"/>
          </a:solidFill>
        </p:spPr>
      </p:sp>
      <p:sp>
        <p:nvSpPr>
          <p:cNvPr id="19" name="Text 17"/>
          <p:cNvSpPr/>
          <p:nvPr/>
        </p:nvSpPr>
        <p:spPr>
          <a:xfrm>
            <a:off x="274320" y="3310128"/>
            <a:ext cx="13258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worker.py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737360" y="3264408"/>
            <a:ext cx="27432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QThread driving consumer loop; emits Qt signals to GUI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" y="4032504"/>
            <a:ext cx="4297680" cy="749808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4032504"/>
            <a:ext cx="1417320" cy="749808"/>
          </a:xfrm>
          <a:prstGeom prst="rect">
            <a:avLst/>
          </a:prstGeom>
          <a:solidFill>
            <a:srgbClr val="2D1B6B"/>
          </a:solidFill>
        </p:spPr>
      </p:sp>
      <p:sp>
        <p:nvSpPr>
          <p:cNvPr id="23" name="Text 21"/>
          <p:cNvSpPr/>
          <p:nvPr/>
        </p:nvSpPr>
        <p:spPr>
          <a:xfrm>
            <a:off x="274320" y="4169664"/>
            <a:ext cx="13258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gui.py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737360" y="4123944"/>
            <a:ext cx="27432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 window: chat bubbles, room selector, analytics panel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36592" y="594360"/>
            <a:ext cx="4297680" cy="749808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36592" y="594360"/>
            <a:ext cx="1417320" cy="749808"/>
          </a:xfrm>
          <a:prstGeom prst="rect">
            <a:avLst/>
          </a:prstGeom>
          <a:solidFill>
            <a:srgbClr val="2D1B6B"/>
          </a:solidFill>
        </p:spPr>
      </p:sp>
      <p:sp>
        <p:nvSpPr>
          <p:cNvPr id="27" name="Text 25"/>
          <p:cNvSpPr/>
          <p:nvPr/>
        </p:nvSpPr>
        <p:spPr>
          <a:xfrm>
            <a:off x="4782312" y="731520"/>
            <a:ext cx="13258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login.py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45352" y="685800"/>
            <a:ext cx="27432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Username entry dialog shown at startup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36592" y="1453896"/>
            <a:ext cx="4297680" cy="749808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36592" y="1453896"/>
            <a:ext cx="1417320" cy="749808"/>
          </a:xfrm>
          <a:prstGeom prst="rect">
            <a:avLst/>
          </a:prstGeom>
          <a:solidFill>
            <a:srgbClr val="2D1B6B"/>
          </a:solidFill>
        </p:spPr>
      </p:sp>
      <p:sp>
        <p:nvSpPr>
          <p:cNvPr id="31" name="Text 29"/>
          <p:cNvSpPr/>
          <p:nvPr/>
        </p:nvSpPr>
        <p:spPr>
          <a:xfrm>
            <a:off x="4782312" y="1591056"/>
            <a:ext cx="13258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db.py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45352" y="1545336"/>
            <a:ext cx="27432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MongoDB interface: save_message() and load_messages()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36592" y="2313432"/>
            <a:ext cx="4297680" cy="749808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36592" y="2313432"/>
            <a:ext cx="1417320" cy="749808"/>
          </a:xfrm>
          <a:prstGeom prst="rect">
            <a:avLst/>
          </a:prstGeom>
          <a:solidFill>
            <a:srgbClr val="2D1B6B"/>
          </a:solidFill>
        </p:spPr>
      </p:sp>
      <p:sp>
        <p:nvSpPr>
          <p:cNvPr id="35" name="Text 33"/>
          <p:cNvSpPr/>
          <p:nvPr/>
        </p:nvSpPr>
        <p:spPr>
          <a:xfrm>
            <a:off x="4782312" y="2450592"/>
            <a:ext cx="13258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analytics.py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45352" y="2404872"/>
            <a:ext cx="27432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Per-user stats, peak hour, ML sentiment aggregation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36592" y="3172968"/>
            <a:ext cx="4297680" cy="749808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36592" y="3172968"/>
            <a:ext cx="1417320" cy="749808"/>
          </a:xfrm>
          <a:prstGeom prst="rect">
            <a:avLst/>
          </a:prstGeom>
          <a:solidFill>
            <a:srgbClr val="2D1B6B"/>
          </a:solidFill>
        </p:spPr>
      </p:sp>
      <p:sp>
        <p:nvSpPr>
          <p:cNvPr id="39" name="Text 37"/>
          <p:cNvSpPr/>
          <p:nvPr/>
        </p:nvSpPr>
        <p:spPr>
          <a:xfrm>
            <a:off x="4782312" y="3310128"/>
            <a:ext cx="13258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ml_sentiment.py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45352" y="3264408"/>
            <a:ext cx="27432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Trains and exposes Naive Bayes sentiment classifier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36592" y="4032504"/>
            <a:ext cx="4297680" cy="749808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36592" y="4032504"/>
            <a:ext cx="1417320" cy="749808"/>
          </a:xfrm>
          <a:prstGeom prst="rect">
            <a:avLst/>
          </a:prstGeom>
          <a:solidFill>
            <a:srgbClr val="2D1B6B"/>
          </a:solidFill>
        </p:spPr>
      </p:sp>
      <p:sp>
        <p:nvSpPr>
          <p:cNvPr id="43" name="Text 41"/>
          <p:cNvSpPr/>
          <p:nvPr/>
        </p:nvSpPr>
        <p:spPr>
          <a:xfrm>
            <a:off x="4782312" y="4169664"/>
            <a:ext cx="13258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summarizer.py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245352" y="4123944"/>
            <a:ext cx="27432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Calls Gemini API for abstractive chat summaries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035"/>
          </a:solidFill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ML-Based Sentiment Analysis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5" name="Text 3"/>
          <p:cNvSpPr/>
          <p:nvPr/>
        </p:nvSpPr>
        <p:spPr>
          <a:xfrm>
            <a:off x="274320" y="594360"/>
            <a:ext cx="8595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Naive Bayes Sentiment Classifier (ml_sentiment.py)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8595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Trained at import time on a curated dataset. CountVectorizer converts text to bag-of-words feature vectors. Real-time inference with negligible latency.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8595360" cy="804672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508760"/>
            <a:ext cx="1828800" cy="804672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9" name="Text 7"/>
          <p:cNvSpPr/>
          <p:nvPr/>
        </p:nvSpPr>
        <p:spPr>
          <a:xfrm>
            <a:off x="274320" y="1673352"/>
            <a:ext cx="18288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Positive 😊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40280" y="1691640"/>
            <a:ext cx="64922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 phrases: I love this · this is great · awesome work · very good · cool app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74320" y="2468880"/>
            <a:ext cx="8595360" cy="804672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468880"/>
            <a:ext cx="1828800" cy="804672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13" name="Text 11"/>
          <p:cNvSpPr/>
          <p:nvPr/>
        </p:nvSpPr>
        <p:spPr>
          <a:xfrm>
            <a:off x="274320" y="2633472"/>
            <a:ext cx="18288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Negative 😞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240280" y="2651760"/>
            <a:ext cx="64922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 phrases: I hate this · this is bad · worst experience · very angry · problem here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74320" y="3429000"/>
            <a:ext cx="8595360" cy="804672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429000"/>
            <a:ext cx="1828800" cy="804672"/>
          </a:xfrm>
          <a:prstGeom prst="rect">
            <a:avLst/>
          </a:prstGeom>
          <a:solidFill>
            <a:srgbClr val="6B7280"/>
          </a:solidFill>
        </p:spPr>
      </p:sp>
      <p:sp>
        <p:nvSpPr>
          <p:cNvPr id="17" name="Text 15"/>
          <p:cNvSpPr/>
          <p:nvPr/>
        </p:nvSpPr>
        <p:spPr>
          <a:xfrm>
            <a:off x="274320" y="3593592"/>
            <a:ext cx="18288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Neutral 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240280" y="3611880"/>
            <a:ext cx="64922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 phrases: okay · fine · normal · nothing special · it works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74320" y="4599432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Output: predict_sentiment(message) → 'Positive' | 'Negative' | 'Neutral'  |  Aggregated to determine overall room mood.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035"/>
          </a:solidFill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AI-Powered Chat Summarization (Gemini)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5" name="Shape 3"/>
          <p:cNvSpPr/>
          <p:nvPr/>
        </p:nvSpPr>
        <p:spPr>
          <a:xfrm>
            <a:off x="274320" y="658368"/>
            <a:ext cx="8595360" cy="868680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658368"/>
            <a:ext cx="2194560" cy="868680"/>
          </a:xfrm>
          <a:prstGeom prst="rect">
            <a:avLst/>
          </a:prstGeom>
          <a:solidFill>
            <a:srgbClr val="2D1B6B"/>
          </a:solidFill>
        </p:spPr>
      </p:sp>
      <p:sp>
        <p:nvSpPr>
          <p:cNvPr id="7" name="Text 5"/>
          <p:cNvSpPr/>
          <p:nvPr/>
        </p:nvSpPr>
        <p:spPr>
          <a:xfrm>
            <a:off x="292608" y="768096"/>
            <a:ext cx="2157984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1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Load Messages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578608" y="822960"/>
            <a:ext cx="6172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messages for a room are retrieved from MongoDB and concatenated into a single text block.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74320" y="1664208"/>
            <a:ext cx="8595360" cy="868680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664208"/>
            <a:ext cx="2194560" cy="868680"/>
          </a:xfrm>
          <a:prstGeom prst="rect">
            <a:avLst/>
          </a:prstGeom>
          <a:solidFill>
            <a:srgbClr val="2D1B6B"/>
          </a:solidFill>
        </p:spPr>
      </p:sp>
      <p:sp>
        <p:nvSpPr>
          <p:cNvPr id="11" name="Text 9"/>
          <p:cNvSpPr/>
          <p:nvPr/>
        </p:nvSpPr>
        <p:spPr>
          <a:xfrm>
            <a:off x="292608" y="1773936"/>
            <a:ext cx="2157984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2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Gemini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578608" y="1828800"/>
            <a:ext cx="6172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prompt instructs the Gemini Flash model to produce a 2–3 sentence abstractive summary of the conversation.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74320" y="2670048"/>
            <a:ext cx="8595360" cy="868680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670048"/>
            <a:ext cx="2194560" cy="868680"/>
          </a:xfrm>
          <a:prstGeom prst="rect">
            <a:avLst/>
          </a:prstGeom>
          <a:solidFill>
            <a:srgbClr val="2D1B6B"/>
          </a:solidFill>
        </p:spPr>
      </p:sp>
      <p:sp>
        <p:nvSpPr>
          <p:cNvPr id="15" name="Text 13"/>
          <p:cNvSpPr/>
          <p:nvPr/>
        </p:nvSpPr>
        <p:spPr>
          <a:xfrm>
            <a:off x="292608" y="2779776"/>
            <a:ext cx="2157984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3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Display Result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578608" y="2834640"/>
            <a:ext cx="6172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generated summary is rendered in the analytics panel below per-user statistics.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274320" y="3749040"/>
            <a:ext cx="8595360" cy="1005840"/>
          </a:xfrm>
          <a:prstGeom prst="rect">
            <a:avLst/>
          </a:prstGeom>
          <a:solidFill>
            <a:srgbClr val="FDF4FF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3822192"/>
            <a:ext cx="2743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Considerations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133088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Abstractive (not extractive) — novel sentences capture key points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Depends on Gemini Flash API availability and network round-trip latency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Complements the ML analytics panel for a complete chat intelligence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035"/>
          </a:solidFill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Model &amp; Kafka Topic Design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5" name="Text 3"/>
          <p:cNvSpPr/>
          <p:nvPr/>
        </p:nvSpPr>
        <p:spPr>
          <a:xfrm>
            <a:off x="274320" y="594360"/>
            <a:ext cx="85953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MongoDB Message Schema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274320" y="960120"/>
          <a:ext cx="8595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188720"/>
                <a:gridCol w="603504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1200" dirty="0"/>
                    </a:p>
                  </a:txBody>
                  <a:tcPr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</a:rPr>
                        <a:t>_id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</a:rPr>
                        <a:t>ObjectId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</a:rPr>
                        <a:t>Auto-generated MongoDB document identifier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</a:rPr>
                        <a:t>room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</a:rPr>
                        <a:t>String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</a:rPr>
                        <a:t>Kafka topic / chat room name (e.g., 'tech-talk')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</a:rPr>
                        <a:t>username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</a:rPr>
                        <a:t>String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</a:rPr>
                        <a:t>Display name of the sender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</a:rPr>
                        <a:t>message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</a:rPr>
                        <a:t>String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</a:rPr>
                        <a:t>Plain text message content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</a:rPr>
                        <a:t>timestamp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</a:rPr>
                        <a:t>Float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</a:rPr>
                        <a:t>Unix epoch time (seconds) at message creation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2852928"/>
            <a:ext cx="85953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Kafka Topic Design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74320" y="3200400"/>
            <a:ext cx="8595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chat room maps to a dedicated Kafka topic with a single partition (default config)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274320" y="3611880"/>
            <a:ext cx="8595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Consumer uses auto_offset_reset='earliest' — retrieves messages from start of log on first connect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274320" y="4023360"/>
            <a:ext cx="8595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Consumer group ID randomised per instance (uuid.uuid4()) — all windows receive all messages independently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274320" y="4434840"/>
            <a:ext cx="8595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change_topic() enables hot-swapping without stopping/restarting the KafkaWorker thread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" name="Text 1"/>
          <p:cNvSpPr/>
          <p:nvPr/>
        </p:nvSpPr>
        <p:spPr>
          <a:xfrm>
            <a:off x="320040" y="1645920"/>
            <a:ext cx="86868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&amp; Output Screenshots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20040" y="283464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6 – Visual outputs from the running application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035"/>
          </a:solidFill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 1: Login Screen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6" name="Text 4"/>
          <p:cNvSpPr/>
          <p:nvPr/>
        </p:nvSpPr>
        <p:spPr>
          <a:xfrm>
            <a:off x="274320" y="621792"/>
            <a:ext cx="4389120" cy="3474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 Place Login Screen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Screenshot Here 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4133088"/>
            <a:ext cx="4389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Fig 6.1 – login.py: Username entry dialog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92040" y="658368"/>
            <a:ext cx="4023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Login Screen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892040" y="1097280"/>
            <a:ext cx="4023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Minimal dialog presented on application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892040" y="1664208"/>
            <a:ext cx="4023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enters a display username before entering the chat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892040" y="2231136"/>
            <a:ext cx="4023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password validation in current scope (future: OAuth / JWT)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892040" y="2798064"/>
            <a:ext cx="4023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Implemented in login.py as a standalone QDialog</a:t>
            </a:r>
            <a:endParaRPr lang="en-US" sz="1350" dirty="0"/>
          </a:p>
        </p:txBody>
      </p:sp>
      <p:pic>
        <p:nvPicPr>
          <p:cNvPr id="13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621665"/>
            <a:ext cx="4530725" cy="33286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035"/>
          </a:solidFill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 2: Main Chat Window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6" name="Text 4"/>
          <p:cNvSpPr/>
          <p:nvPr/>
        </p:nvSpPr>
        <p:spPr>
          <a:xfrm>
            <a:off x="274320" y="621792"/>
            <a:ext cx="5303520" cy="3931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4590288"/>
            <a:ext cx="5303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Fig 6.2 – gui.py: Chat bubble UI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06440" y="658368"/>
            <a:ext cx="31089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Chat Window Features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806440" y="1078992"/>
            <a:ext cx="31089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Dark purple theme defined in config.py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06440" y="1627632"/>
            <a:ext cx="31089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 messages: right-aligned purple bubbles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06440" y="2176272"/>
            <a:ext cx="31089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Received messages: left-aligned contrasting bubbles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06440" y="2724912"/>
            <a:ext cx="31089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QScrollArea for infinite message history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06440" y="3273552"/>
            <a:ext cx="31089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Room selector dropdown at top for live topic switching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06440" y="3822192"/>
            <a:ext cx="31089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Analytics button opens the statistics panel</a:t>
            </a:r>
            <a:endParaRPr lang="en-US" sz="1200" dirty="0"/>
          </a:p>
        </p:txBody>
      </p:sp>
      <p:pic>
        <p:nvPicPr>
          <p:cNvPr id="15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238" y="1267460"/>
            <a:ext cx="5932805" cy="30619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035"/>
          </a:solidFill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 3: Multi-Room Chat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6" name="Text 4"/>
          <p:cNvSpPr/>
          <p:nvPr/>
        </p:nvSpPr>
        <p:spPr>
          <a:xfrm>
            <a:off x="274320" y="621792"/>
            <a:ext cx="5303520" cy="3931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 Place Room Selector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Screenshot Here 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4590288"/>
            <a:ext cx="5303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Fig 6.3 – Room selector: topic hot-swap at runtime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06440" y="658368"/>
            <a:ext cx="31089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Multi-Room Support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806440" y="1097280"/>
            <a:ext cx="3108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room = a dedicated Kafka topic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06440" y="1719072"/>
            <a:ext cx="3108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Switching rooms calls change_topic() — no restart needed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06440" y="2340864"/>
            <a:ext cx="3108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Chat area refreshes with messages from the new room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06440" y="2962656"/>
            <a:ext cx="3108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Adding a new room = one line in config.py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06440" y="3584448"/>
            <a:ext cx="3108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Consumer unsubscribes from old topic &amp; re-subscribes instantly</a:t>
            </a:r>
            <a:endParaRPr lang="en-US" sz="1200" dirty="0"/>
          </a:p>
        </p:txBody>
      </p:sp>
      <p:pic>
        <p:nvPicPr>
          <p:cNvPr id="14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333" y="676910"/>
            <a:ext cx="5610225" cy="3789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035"/>
          </a:solidFill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 4: Analytics Panel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6" name="Text 4"/>
          <p:cNvSpPr/>
          <p:nvPr/>
        </p:nvSpPr>
        <p:spPr>
          <a:xfrm>
            <a:off x="274320" y="621792"/>
            <a:ext cx="5303520" cy="3931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 Place Analytics Panel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Screenshot Here 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4590288"/>
            <a:ext cx="5303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Fig 6.4 – analytics.py: per-user stats, peak hour, room mood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06440" y="658368"/>
            <a:ext cx="31089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Analytics Features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806440" y="1097280"/>
            <a:ext cx="3108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Per-user message counts (Counter)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06440" y="1719072"/>
            <a:ext cx="3108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 active user identification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06440" y="2340864"/>
            <a:ext cx="3108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Peak activity hour (timestamp bucketing)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06440" y="2962656"/>
            <a:ext cx="3108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Room mood via Naive Bayes aggregate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06440" y="3584448"/>
            <a:ext cx="3108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Loaded on demand via analytics button</a:t>
            </a:r>
            <a:endParaRPr lang="en-US" sz="1200" dirty="0"/>
          </a:p>
        </p:txBody>
      </p:sp>
      <p:pic>
        <p:nvPicPr>
          <p:cNvPr id="14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90" y="886778"/>
            <a:ext cx="5554980" cy="36556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035"/>
          </a:solidFill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 5 &amp; 6: AI Summary &amp; MongoDB Storage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6" name="Text 4"/>
          <p:cNvSpPr/>
          <p:nvPr/>
        </p:nvSpPr>
        <p:spPr>
          <a:xfrm>
            <a:off x="274320" y="621792"/>
            <a:ext cx="411480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 Gemini Summary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Screenshot 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3218688"/>
            <a:ext cx="4114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Fig 6.5 – AI-generated abstractive summary (Gemini Flash)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0" y="621792"/>
            <a:ext cx="411480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EEA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 MongoDB Storage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5EEA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Screenshot 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3218688"/>
            <a:ext cx="4114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Fig 6.6 – MongoDB persistence: stored documents (db.py)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3566160"/>
            <a:ext cx="8595360" cy="1280160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3639312"/>
            <a:ext cx="8229600" cy="10789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Summary: </a:t>
            </a:r>
            <a:r>
              <a:rPr lang="en-US" sz="125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Gemini Flash produces a 2–3 sentence abstract of the full room chat history. Network-dependent response time.</a:t>
            </a:r>
            <a:r>
              <a:rPr lang="en-US" sz="125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
</a:t>
            </a:r>
            <a:r>
              <a:rPr lang="en-US" sz="125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MongoDB: </a:t>
            </a:r>
            <a:r>
              <a:rPr lang="en-US" sz="125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messages written to kafka_chat.messages collection with room, username, message, and timestamp fields.</a:t>
            </a:r>
            <a:endParaRPr lang="en-US" sz="1250" dirty="0"/>
          </a:p>
        </p:txBody>
      </p:sp>
      <p:pic>
        <p:nvPicPr>
          <p:cNvPr id="15" name="Picture 10"/>
          <p:cNvPicPr>
            <a:picLocks noChangeAspect="1"/>
          </p:cNvPicPr>
          <p:nvPr/>
        </p:nvPicPr>
        <p:blipFill>
          <a:blip r:embed="rId1"/>
          <a:srcRect r="24786"/>
          <a:stretch>
            <a:fillRect/>
          </a:stretch>
        </p:blipFill>
        <p:spPr>
          <a:xfrm>
            <a:off x="4790440" y="516890"/>
            <a:ext cx="4079240" cy="270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Picture 9"/>
          <p:cNvPicPr>
            <a:picLocks noChangeAspect="1"/>
          </p:cNvPicPr>
          <p:nvPr/>
        </p:nvPicPr>
        <p:blipFill>
          <a:blip r:embed="rId2"/>
          <a:srcRect r="25292" b="15544"/>
          <a:stretch>
            <a:fillRect/>
          </a:stretch>
        </p:blipFill>
        <p:spPr>
          <a:xfrm>
            <a:off x="115570" y="570865"/>
            <a:ext cx="4432300" cy="2556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035"/>
          </a:solidFill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Performance Summary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7C3AED"/>
          </a:solidFill>
        </p:spPr>
      </p:sp>
      <p:graphicFrame>
        <p:nvGraphicFramePr>
          <p:cNvPr id="20" name="Table 0"/>
          <p:cNvGraphicFramePr>
            <a:graphicFrameLocks noGrp="1"/>
          </p:cNvGraphicFramePr>
          <p:nvPr/>
        </p:nvGraphicFramePr>
        <p:xfrm>
          <a:off x="228600" y="594360"/>
          <a:ext cx="8686800" cy="3328416"/>
        </p:xfrm>
        <a:graphic>
          <a:graphicData uri="http://schemas.openxmlformats.org/drawingml/2006/table">
            <a:tbl>
              <a:tblPr/>
              <a:tblGrid>
                <a:gridCol w="3108960"/>
                <a:gridCol w="1645920"/>
                <a:gridCol w="3931920"/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200" dirty="0"/>
                    </a:p>
                  </a:txBody>
                  <a:tcPr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</a:rPr>
                        <a:t>End-to-end message latency (mean)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</a:rPr>
                        <a:t>Sub-second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</a:rPr>
                        <a:t>Producer send → consumer receipt under normal local load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</a:rPr>
                        <a:t>End-to-end message latency (95th pct)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</a:rPr>
                        <a:t>Sub-second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</a:rPr>
                        <a:t>Under normal load on single-machine deployment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</a:rPr>
                        <a:t>Analytics computation time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</a:rPr>
                        <a:t>Fast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</a:rPr>
                        <a:t>Up to 1,000 messages; excludes Gemini API call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</a:rPr>
                        <a:t>Gemini API response time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</a:rPr>
                        <a:t>Network-dependent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</a:rPr>
                        <a:t>External API; round-trip latency varies by connectivity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</a:rPr>
                        <a:t>MongoDB insert time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</a:rPr>
                        <a:t>Fast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</a:rPr>
                        <a:t>Single document insert — PyMongo insert_one()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</a:rPr>
                        <a:t>Sentiment inference time/message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</a:rPr>
                        <a:t>Negligible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</a:rPr>
                        <a:t>Naive Bayes + bag-of-words on CPU, no GPU required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498848"/>
            <a:ext cx="8595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Insight: Real-time message delivery achieved with sub-second latency under local conditions. ML inference adds no perceptible delay.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035"/>
          </a:solidFill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Discussion: Strengths &amp; Limitations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5" name="Shape 3"/>
          <p:cNvSpPr/>
          <p:nvPr/>
        </p:nvSpPr>
        <p:spPr>
          <a:xfrm>
            <a:off x="228600" y="566928"/>
            <a:ext cx="4206240" cy="347472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6" name="Text 4"/>
          <p:cNvSpPr/>
          <p:nvPr/>
        </p:nvSpPr>
        <p:spPr>
          <a:xfrm>
            <a:off x="320040" y="566928"/>
            <a:ext cx="4023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Strengths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987552"/>
            <a:ext cx="40233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 separation of concerns — each module has a single responsibility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444752"/>
            <a:ext cx="40233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Non-blocking GUI via QThread + Qt signal-slot mechanism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1901952"/>
            <a:ext cx="40233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Sub-second latency message delivery under local conditions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2359152"/>
            <a:ext cx="40233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Extensible room system: new room = one topic name in config.py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2816352"/>
            <a:ext cx="40233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Dual analytics: ML sentiment + Gemini abstractive summarization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566928"/>
            <a:ext cx="4206240" cy="347472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13" name="Text 11"/>
          <p:cNvSpPr/>
          <p:nvPr/>
        </p:nvSpPr>
        <p:spPr>
          <a:xfrm>
            <a:off x="4800600" y="566928"/>
            <a:ext cx="4023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 Limitations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00600" y="987552"/>
            <a:ext cx="40233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Username-only auth — no password validation or session management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1444752"/>
            <a:ext cx="40233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Sentiment classifier trained on only 15 samples; limited real-world accuracy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1901952"/>
            <a:ext cx="40233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TLS encryption; Kafka accessed without SASL auth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2359152"/>
            <a:ext cx="40233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Gemini API summarization depends on external availability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2816352"/>
            <a:ext cx="40233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Single-partition Kafka topic limits horizontal throughput scalability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035"/>
          </a:solidFill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Work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5" name="Shape 3"/>
          <p:cNvSpPr/>
          <p:nvPr/>
        </p:nvSpPr>
        <p:spPr>
          <a:xfrm>
            <a:off x="182880" y="594360"/>
            <a:ext cx="2834640" cy="1920240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704088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758952"/>
            <a:ext cx="2057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Authentication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252728"/>
            <a:ext cx="2651760" cy="11704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 OAuth or JWT-based user authentication with a user management service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72968" y="594360"/>
            <a:ext cx="2834640" cy="1920240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64408" y="704088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858768" y="758952"/>
            <a:ext cx="2057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Better ML Models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64408" y="1252728"/>
            <a:ext cx="2651760" cy="11704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Expand sentiment dataset; evaluate transformer-based models (e.g., DistilBERT) for improved accuracy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63056" y="594360"/>
            <a:ext cx="2834640" cy="1920240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54496" y="704088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848856" y="758952"/>
            <a:ext cx="2057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54496" y="1252728"/>
            <a:ext cx="2651760" cy="11704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TLS encryption for Kafka connections and enforce SASL authentication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82880" y="2697480"/>
            <a:ext cx="2834640" cy="1920240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4320" y="2807208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🖼️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68680" y="2862072"/>
            <a:ext cx="2057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Media Messages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4320" y="3355848"/>
            <a:ext cx="2651760" cy="11704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 images and files via Kafka message headers and object storage integration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172968" y="2697480"/>
            <a:ext cx="2834640" cy="1920240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64408" y="2807208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🐳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858768" y="2862072"/>
            <a:ext cx="2057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 Deployment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64408" y="3355848"/>
            <a:ext cx="2651760" cy="11704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 with Docker Compose for reproducible multi-node Kafka and MongoDB environments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63056" y="2697480"/>
            <a:ext cx="2834640" cy="1920240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54496" y="2807208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🔔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848856" y="2862072"/>
            <a:ext cx="2057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Notifications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54496" y="3355848"/>
            <a:ext cx="2651760" cy="11704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Introduce notification system using Kafka Streams to alert users of mentions or keywords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" name="Text 1"/>
          <p:cNvSpPr/>
          <p:nvPr/>
        </p:nvSpPr>
        <p:spPr>
          <a:xfrm>
            <a:off x="365760" y="320040"/>
            <a:ext cx="8503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033272"/>
            <a:ext cx="54864" cy="32004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5" name="Text 3"/>
          <p:cNvSpPr/>
          <p:nvPr/>
        </p:nvSpPr>
        <p:spPr>
          <a:xfrm>
            <a:off x="548640" y="100584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Demonstrated feasibility of building a real-time distributed chat app using Kafka as the messaging backbone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55064"/>
            <a:ext cx="54864" cy="32004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7" name="Text 5"/>
          <p:cNvSpPr/>
          <p:nvPr/>
        </p:nvSpPr>
        <p:spPr>
          <a:xfrm>
            <a:off x="548640" y="162763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QThread + Qt signals effectively decouple Kafka I/O from UI — responsive, non-blocking user experience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276856"/>
            <a:ext cx="54864" cy="32004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9" name="Text 7"/>
          <p:cNvSpPr/>
          <p:nvPr/>
        </p:nvSpPr>
        <p:spPr>
          <a:xfrm>
            <a:off x="548640" y="2249424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Modular architecture with a central config file makes the system readily extensible for production use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898648"/>
            <a:ext cx="54864" cy="32004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1" name="Text 9"/>
          <p:cNvSpPr/>
          <p:nvPr/>
        </p:nvSpPr>
        <p:spPr>
          <a:xfrm>
            <a:off x="548640" y="2871216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Analytics module delivers actionable insights into conversation patterns and sentiment in real time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520440"/>
            <a:ext cx="54864" cy="32004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3" name="Text 11"/>
          <p:cNvSpPr/>
          <p:nvPr/>
        </p:nvSpPr>
        <p:spPr>
          <a:xfrm>
            <a:off x="548640" y="3493008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AI-powered Gemini summarizer enables users to grasp lengthy chat histories at a glance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4142232"/>
            <a:ext cx="54864" cy="32004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5" name="Text 13"/>
          <p:cNvSpPr/>
          <p:nvPr/>
        </p:nvSpPr>
        <p:spPr>
          <a:xfrm>
            <a:off x="548640" y="411480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iterations: stronger auth, richer ML models, TLS encryption, and cloud/Docker deployment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035"/>
          </a:solidFill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References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5" name="Text 3"/>
          <p:cNvSpPr/>
          <p:nvPr/>
        </p:nvSpPr>
        <p:spPr>
          <a:xfrm>
            <a:off x="320040" y="621792"/>
            <a:ext cx="850392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[1] Apache Kafka Documentation — kafka.apache.org/documentation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20040" y="1170432"/>
            <a:ext cx="850392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[2] kafka-python Library — kafka-python.readthedocs.io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" y="1719072"/>
            <a:ext cx="850392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[3] PyQt5 Documentation — riverbankcomputing.com/software/pyqt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0040" y="2267712"/>
            <a:ext cx="850392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[4] PyMongo Documentation — pymongo.readthedocs.io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20040" y="2816352"/>
            <a:ext cx="850392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[5] scikit-learn: Machine Learning in Python — Pedregosa et al., JMLR 12, 2011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20040" y="3364992"/>
            <a:ext cx="850392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[6] Google Generative AI Python SDK — ai.google.dev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20040" y="3913632"/>
            <a:ext cx="850392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[7] MongoDB Documentation — mongodb.com/docs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20040" y="4462272"/>
            <a:ext cx="850392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[8] Kreps, Narkhede &amp; Rao (2011). Kafka: A distributed messaging system for log processing. NetDB Workshop.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11734</Words>
  <Application>WPS Presentation</Application>
  <PresentationFormat>On-screen Show (16:9)</PresentationFormat>
  <Paragraphs>555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6" baseType="lpstr">
      <vt:lpstr>Arial</vt:lpstr>
      <vt:lpstr>SimSun</vt:lpstr>
      <vt:lpstr>Wingdings</vt:lpstr>
      <vt:lpstr>Calibri</vt:lpstr>
      <vt:lpstr>Calibri</vt:lpstr>
      <vt:lpstr>Calibri</vt:lpstr>
      <vt:lpstr>Consolas</vt:lpstr>
      <vt:lpstr>Consolas</vt:lpstr>
      <vt:lpstr>Consolas</vt:lpstr>
      <vt:lpstr>Microsoft YaHei</vt:lpstr>
      <vt:lpstr>Arial Unicode MS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Distributed Chat Application</dc:title>
  <dc:creator>Priyanshu Nerella</dc:creator>
  <dc:subject>PptxGenJS Presentation</dc:subject>
  <cp:lastModifiedBy>Priyanshu</cp:lastModifiedBy>
  <cp:revision>4</cp:revision>
  <dcterms:created xsi:type="dcterms:W3CDTF">2026-05-02T16:53:00Z</dcterms:created>
  <dcterms:modified xsi:type="dcterms:W3CDTF">2026-05-02T17:15:04Z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552D068339044DEDA868B28073585EFF_12</vt:lpwstr>
  </property>
  <property fmtid="{D5CDD505-2E9C-101B-9397-08002B2CF9AE}" pid="3" name="KSOProductBuildVer">
    <vt:lpwstr>1033-12.1.0.25862</vt:lpwstr>
  </property>
</Properties>
</file>